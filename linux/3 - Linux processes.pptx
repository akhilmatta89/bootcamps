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6" r:id="rId2"/>
    <p:sldId id="256" r:id="rId3"/>
    <p:sldId id="257" r:id="rId4"/>
    <p:sldId id="258" r:id="rId5"/>
    <p:sldId id="259" r:id="rId6"/>
    <p:sldId id="260" r:id="rId7"/>
    <p:sldId id="261" r:id="rId8"/>
    <p:sldId id="263" r:id="rId9"/>
    <p:sldId id="262" r:id="rId10"/>
    <p:sldId id="264" r:id="rId11"/>
    <p:sldId id="265" r:id="rId12"/>
    <p:sldId id="266" r:id="rId13"/>
    <p:sldId id="267" r:id="rId14"/>
    <p:sldId id="268" r:id="rId15"/>
    <p:sldId id="269" r:id="rId16"/>
    <p:sldId id="275" r:id="rId17"/>
    <p:sldId id="270" r:id="rId18"/>
    <p:sldId id="271" r:id="rId19"/>
    <p:sldId id="272" r:id="rId20"/>
    <p:sldId id="273" r:id="rId21"/>
    <p:sldId id="27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E"/>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E"/>
          </a:p>
        </p:txBody>
      </p:sp>
      <p:sp>
        <p:nvSpPr>
          <p:cNvPr id="4" name="Date Placeholder 3"/>
          <p:cNvSpPr>
            <a:spLocks noGrp="1"/>
          </p:cNvSpPr>
          <p:nvPr>
            <p:ph type="dt" sz="half" idx="10"/>
          </p:nvPr>
        </p:nvSpPr>
        <p:spPr/>
        <p:txBody>
          <a:bodyPr/>
          <a:lstStyle/>
          <a:p>
            <a:fld id="{A057BE38-14D9-4DD9-BDA8-E7BB909ACD0F}" type="datetimeFigureOut">
              <a:rPr lang="en-IE" smtClean="0"/>
              <a:t>25/10/2013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E157305-B13C-4044-A2B1-FE051A70EF41}" type="slidenum">
              <a:rPr lang="en-IE" smtClean="0"/>
              <a:t>‹#›</a:t>
            </a:fld>
            <a:endParaRPr lang="en-IE"/>
          </a:p>
        </p:txBody>
      </p:sp>
    </p:spTree>
    <p:extLst>
      <p:ext uri="{BB962C8B-B14F-4D97-AF65-F5344CB8AC3E}">
        <p14:creationId xmlns:p14="http://schemas.microsoft.com/office/powerpoint/2010/main" val="2358347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E"/>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Date Placeholder 3"/>
          <p:cNvSpPr>
            <a:spLocks noGrp="1"/>
          </p:cNvSpPr>
          <p:nvPr>
            <p:ph type="dt" sz="half" idx="10"/>
          </p:nvPr>
        </p:nvSpPr>
        <p:spPr/>
        <p:txBody>
          <a:bodyPr/>
          <a:lstStyle/>
          <a:p>
            <a:fld id="{A057BE38-14D9-4DD9-BDA8-E7BB909ACD0F}" type="datetimeFigureOut">
              <a:rPr lang="en-IE" smtClean="0"/>
              <a:t>25/10/2013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E157305-B13C-4044-A2B1-FE051A70EF41}" type="slidenum">
              <a:rPr lang="en-IE" smtClean="0"/>
              <a:t>‹#›</a:t>
            </a:fld>
            <a:endParaRPr lang="en-IE"/>
          </a:p>
        </p:txBody>
      </p:sp>
    </p:spTree>
    <p:extLst>
      <p:ext uri="{BB962C8B-B14F-4D97-AF65-F5344CB8AC3E}">
        <p14:creationId xmlns:p14="http://schemas.microsoft.com/office/powerpoint/2010/main" val="159791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E"/>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057BE38-14D9-4DD9-BDA8-E7BB909ACD0F}" type="datetimeFigureOut">
              <a:rPr lang="en-IE" smtClean="0"/>
              <a:t>25/10/2013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E157305-B13C-4044-A2B1-FE051A70EF41}" type="slidenum">
              <a:rPr lang="en-IE" smtClean="0"/>
              <a:t>‹#›</a:t>
            </a:fld>
            <a:endParaRPr lang="en-IE"/>
          </a:p>
        </p:txBody>
      </p:sp>
    </p:spTree>
    <p:extLst>
      <p:ext uri="{BB962C8B-B14F-4D97-AF65-F5344CB8AC3E}">
        <p14:creationId xmlns:p14="http://schemas.microsoft.com/office/powerpoint/2010/main" val="2110666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E"/>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5" name="Date Placeholder 4"/>
          <p:cNvSpPr>
            <a:spLocks noGrp="1"/>
          </p:cNvSpPr>
          <p:nvPr>
            <p:ph type="dt" sz="half" idx="10"/>
          </p:nvPr>
        </p:nvSpPr>
        <p:spPr/>
        <p:txBody>
          <a:bodyPr/>
          <a:lstStyle/>
          <a:p>
            <a:fld id="{A057BE38-14D9-4DD9-BDA8-E7BB909ACD0F}" type="datetimeFigureOut">
              <a:rPr lang="en-IE" smtClean="0"/>
              <a:t>25/10/2013</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EE157305-B13C-4044-A2B1-FE051A70EF41}" type="slidenum">
              <a:rPr lang="en-IE" smtClean="0"/>
              <a:t>‹#›</a:t>
            </a:fld>
            <a:endParaRPr lang="en-IE"/>
          </a:p>
        </p:txBody>
      </p:sp>
    </p:spTree>
    <p:extLst>
      <p:ext uri="{BB962C8B-B14F-4D97-AF65-F5344CB8AC3E}">
        <p14:creationId xmlns:p14="http://schemas.microsoft.com/office/powerpoint/2010/main" val="2328700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E"/>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7" name="Date Placeholder 6"/>
          <p:cNvSpPr>
            <a:spLocks noGrp="1"/>
          </p:cNvSpPr>
          <p:nvPr>
            <p:ph type="dt" sz="half" idx="10"/>
          </p:nvPr>
        </p:nvSpPr>
        <p:spPr/>
        <p:txBody>
          <a:bodyPr/>
          <a:lstStyle/>
          <a:p>
            <a:fld id="{A057BE38-14D9-4DD9-BDA8-E7BB909ACD0F}" type="datetimeFigureOut">
              <a:rPr lang="en-IE" smtClean="0"/>
              <a:t>25/10/2013</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EE157305-B13C-4044-A2B1-FE051A70EF41}" type="slidenum">
              <a:rPr lang="en-IE" smtClean="0"/>
              <a:t>‹#›</a:t>
            </a:fld>
            <a:endParaRPr lang="en-IE"/>
          </a:p>
        </p:txBody>
      </p:sp>
    </p:spTree>
    <p:extLst>
      <p:ext uri="{BB962C8B-B14F-4D97-AF65-F5344CB8AC3E}">
        <p14:creationId xmlns:p14="http://schemas.microsoft.com/office/powerpoint/2010/main" val="3385325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E"/>
          </a:p>
        </p:txBody>
      </p:sp>
      <p:sp>
        <p:nvSpPr>
          <p:cNvPr id="3" name="Date Placeholder 2"/>
          <p:cNvSpPr>
            <a:spLocks noGrp="1"/>
          </p:cNvSpPr>
          <p:nvPr>
            <p:ph type="dt" sz="half" idx="10"/>
          </p:nvPr>
        </p:nvSpPr>
        <p:spPr/>
        <p:txBody>
          <a:bodyPr/>
          <a:lstStyle/>
          <a:p>
            <a:fld id="{A057BE38-14D9-4DD9-BDA8-E7BB909ACD0F}" type="datetimeFigureOut">
              <a:rPr lang="en-IE" smtClean="0"/>
              <a:t>25/10/2013</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EE157305-B13C-4044-A2B1-FE051A70EF41}" type="slidenum">
              <a:rPr lang="en-IE" smtClean="0"/>
              <a:t>‹#›</a:t>
            </a:fld>
            <a:endParaRPr lang="en-IE"/>
          </a:p>
        </p:txBody>
      </p:sp>
    </p:spTree>
    <p:extLst>
      <p:ext uri="{BB962C8B-B14F-4D97-AF65-F5344CB8AC3E}">
        <p14:creationId xmlns:p14="http://schemas.microsoft.com/office/powerpoint/2010/main" val="1401530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57BE38-14D9-4DD9-BDA8-E7BB909ACD0F}" type="datetimeFigureOut">
              <a:rPr lang="en-IE" smtClean="0"/>
              <a:t>25/10/2013</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EE157305-B13C-4044-A2B1-FE051A70EF41}" type="slidenum">
              <a:rPr lang="en-IE" smtClean="0"/>
              <a:t>‹#›</a:t>
            </a:fld>
            <a:endParaRPr lang="en-IE"/>
          </a:p>
        </p:txBody>
      </p:sp>
    </p:spTree>
    <p:extLst>
      <p:ext uri="{BB962C8B-B14F-4D97-AF65-F5344CB8AC3E}">
        <p14:creationId xmlns:p14="http://schemas.microsoft.com/office/powerpoint/2010/main" val="3570647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E"/>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057BE38-14D9-4DD9-BDA8-E7BB909ACD0F}" type="datetimeFigureOut">
              <a:rPr lang="en-IE" smtClean="0"/>
              <a:t>25/10/2013</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EE157305-B13C-4044-A2B1-FE051A70EF41}" type="slidenum">
              <a:rPr lang="en-IE" smtClean="0"/>
              <a:t>‹#›</a:t>
            </a:fld>
            <a:endParaRPr lang="en-IE"/>
          </a:p>
        </p:txBody>
      </p:sp>
    </p:spTree>
    <p:extLst>
      <p:ext uri="{BB962C8B-B14F-4D97-AF65-F5344CB8AC3E}">
        <p14:creationId xmlns:p14="http://schemas.microsoft.com/office/powerpoint/2010/main" val="1893626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E"/>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057BE38-14D9-4DD9-BDA8-E7BB909ACD0F}" type="datetimeFigureOut">
              <a:rPr lang="en-IE" smtClean="0"/>
              <a:t>25/10/2013</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EE157305-B13C-4044-A2B1-FE051A70EF41}" type="slidenum">
              <a:rPr lang="en-IE" smtClean="0"/>
              <a:t>‹#›</a:t>
            </a:fld>
            <a:endParaRPr lang="en-IE"/>
          </a:p>
        </p:txBody>
      </p:sp>
    </p:spTree>
    <p:extLst>
      <p:ext uri="{BB962C8B-B14F-4D97-AF65-F5344CB8AC3E}">
        <p14:creationId xmlns:p14="http://schemas.microsoft.com/office/powerpoint/2010/main" val="2797597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Date Placeholder 3"/>
          <p:cNvSpPr>
            <a:spLocks noGrp="1"/>
          </p:cNvSpPr>
          <p:nvPr>
            <p:ph type="dt" sz="half" idx="10"/>
          </p:nvPr>
        </p:nvSpPr>
        <p:spPr/>
        <p:txBody>
          <a:bodyPr/>
          <a:lstStyle/>
          <a:p>
            <a:fld id="{A057BE38-14D9-4DD9-BDA8-E7BB909ACD0F}" type="datetimeFigureOut">
              <a:rPr lang="en-IE" smtClean="0"/>
              <a:t>25/10/2013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E157305-B13C-4044-A2B1-FE051A70EF41}" type="slidenum">
              <a:rPr lang="en-IE" smtClean="0"/>
              <a:t>‹#›</a:t>
            </a:fld>
            <a:endParaRPr lang="en-IE"/>
          </a:p>
        </p:txBody>
      </p:sp>
    </p:spTree>
    <p:extLst>
      <p:ext uri="{BB962C8B-B14F-4D97-AF65-F5344CB8AC3E}">
        <p14:creationId xmlns:p14="http://schemas.microsoft.com/office/powerpoint/2010/main" val="841767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E"/>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Date Placeholder 3"/>
          <p:cNvSpPr>
            <a:spLocks noGrp="1"/>
          </p:cNvSpPr>
          <p:nvPr>
            <p:ph type="dt" sz="half" idx="10"/>
          </p:nvPr>
        </p:nvSpPr>
        <p:spPr/>
        <p:txBody>
          <a:bodyPr/>
          <a:lstStyle/>
          <a:p>
            <a:fld id="{A057BE38-14D9-4DD9-BDA8-E7BB909ACD0F}" type="datetimeFigureOut">
              <a:rPr lang="en-IE" smtClean="0"/>
              <a:t>25/10/2013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E157305-B13C-4044-A2B1-FE051A70EF41}" type="slidenum">
              <a:rPr lang="en-IE" smtClean="0"/>
              <a:t>‹#›</a:t>
            </a:fld>
            <a:endParaRPr lang="en-IE"/>
          </a:p>
        </p:txBody>
      </p:sp>
    </p:spTree>
    <p:extLst>
      <p:ext uri="{BB962C8B-B14F-4D97-AF65-F5344CB8AC3E}">
        <p14:creationId xmlns:p14="http://schemas.microsoft.com/office/powerpoint/2010/main" val="7160391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E"/>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57BE38-14D9-4DD9-BDA8-E7BB909ACD0F}" type="datetimeFigureOut">
              <a:rPr lang="en-IE" smtClean="0"/>
              <a:t>25/10/2013</a:t>
            </a:fld>
            <a:endParaRPr lang="en-I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57305-B13C-4044-A2B1-FE051A70EF41}" type="slidenum">
              <a:rPr lang="en-IE" smtClean="0"/>
              <a:t>‹#›</a:t>
            </a:fld>
            <a:endParaRPr lang="en-IE"/>
          </a:p>
        </p:txBody>
      </p:sp>
    </p:spTree>
    <p:extLst>
      <p:ext uri="{BB962C8B-B14F-4D97-AF65-F5344CB8AC3E}">
        <p14:creationId xmlns:p14="http://schemas.microsoft.com/office/powerpoint/2010/main" val="5789649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Linux Processes</a:t>
            </a:r>
            <a:endParaRPr lang="en-IE" dirty="0"/>
          </a:p>
        </p:txBody>
      </p:sp>
      <p:sp>
        <p:nvSpPr>
          <p:cNvPr id="4" name="Text Placeholder 3"/>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2158950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E" dirty="0" smtClean="0"/>
              <a:t>Linux start up sequence</a:t>
            </a:r>
            <a:endParaRPr lang="en-IE" dirty="0"/>
          </a:p>
        </p:txBody>
      </p:sp>
      <p:sp>
        <p:nvSpPr>
          <p:cNvPr id="5" name="Content Placeholder 4"/>
          <p:cNvSpPr>
            <a:spLocks noGrp="1"/>
          </p:cNvSpPr>
          <p:nvPr>
            <p:ph idx="1"/>
          </p:nvPr>
        </p:nvSpPr>
        <p:spPr/>
        <p:txBody>
          <a:bodyPr/>
          <a:lstStyle/>
          <a:p>
            <a:r>
              <a:rPr lang="en-IE" dirty="0" smtClean="0"/>
              <a:t>Loading and initialization of the kernel</a:t>
            </a:r>
          </a:p>
          <a:p>
            <a:r>
              <a:rPr lang="en-IE" dirty="0" smtClean="0"/>
              <a:t>Device detection and configuration</a:t>
            </a:r>
          </a:p>
          <a:p>
            <a:r>
              <a:rPr lang="en-IE" dirty="0" smtClean="0"/>
              <a:t>Creation of kernel threads</a:t>
            </a:r>
          </a:p>
          <a:p>
            <a:r>
              <a:rPr lang="en-IE" dirty="0" smtClean="0"/>
              <a:t>Operator intervention (manual boot only)</a:t>
            </a:r>
          </a:p>
          <a:p>
            <a:r>
              <a:rPr lang="en-IE" dirty="0" smtClean="0"/>
              <a:t>Execution of system </a:t>
            </a:r>
            <a:r>
              <a:rPr lang="en-IE" dirty="0" err="1" smtClean="0"/>
              <a:t>startup</a:t>
            </a:r>
            <a:r>
              <a:rPr lang="en-IE" dirty="0" smtClean="0"/>
              <a:t> scripts</a:t>
            </a:r>
          </a:p>
          <a:p>
            <a:r>
              <a:rPr lang="en-IE" dirty="0" smtClean="0"/>
              <a:t>Multiuser operation</a:t>
            </a:r>
            <a:endParaRPr lang="en-IE" dirty="0"/>
          </a:p>
        </p:txBody>
      </p:sp>
    </p:spTree>
    <p:extLst>
      <p:ext uri="{BB962C8B-B14F-4D97-AF65-F5344CB8AC3E}">
        <p14:creationId xmlns:p14="http://schemas.microsoft.com/office/powerpoint/2010/main" val="2647234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Kernel initialisation</a:t>
            </a:r>
            <a:endParaRPr lang="en-IE" dirty="0"/>
          </a:p>
        </p:txBody>
      </p:sp>
      <p:sp>
        <p:nvSpPr>
          <p:cNvPr id="3" name="Content Placeholder 2"/>
          <p:cNvSpPr>
            <a:spLocks noGrp="1"/>
          </p:cNvSpPr>
          <p:nvPr>
            <p:ph idx="1"/>
          </p:nvPr>
        </p:nvSpPr>
        <p:spPr/>
        <p:txBody>
          <a:bodyPr>
            <a:normAutofit fontScale="92500" lnSpcReduction="10000"/>
          </a:bodyPr>
          <a:lstStyle/>
          <a:p>
            <a:r>
              <a:rPr lang="en-IE" dirty="0"/>
              <a:t>The Linux kernel is itself a program, and the first bootstrapping task is to get this program into memory so that it can be executed. The pathname of the kernel is usually /</a:t>
            </a:r>
            <a:r>
              <a:rPr lang="en-IE" dirty="0" err="1"/>
              <a:t>vmlinuz</a:t>
            </a:r>
            <a:r>
              <a:rPr lang="en-IE" dirty="0"/>
              <a:t> or /boot/</a:t>
            </a:r>
            <a:r>
              <a:rPr lang="en-IE" dirty="0" err="1"/>
              <a:t>vmlinuz</a:t>
            </a:r>
            <a:r>
              <a:rPr lang="en-IE" dirty="0"/>
              <a:t>. Linux implements a two-stage loading process. During the first stage, the system ROM loads a small boot program into memory from disk. This program then arranges for the kernel to be loaded. The kernel performs memory tests to find out how much RAM is available. Some of the kernel’s internal data structures are statically sized, so the kernel sets aside a fixed amount of real memory for itself when it starts. This memory is reserved for the kernel and cannot be used by user-level processes. The kernel prints on the console a message that reports the total amount of physical memory and the amount available to user processes. </a:t>
            </a:r>
          </a:p>
          <a:p>
            <a:endParaRPr lang="en-IE" dirty="0"/>
          </a:p>
        </p:txBody>
      </p:sp>
    </p:spTree>
    <p:extLst>
      <p:ext uri="{BB962C8B-B14F-4D97-AF65-F5344CB8AC3E}">
        <p14:creationId xmlns:p14="http://schemas.microsoft.com/office/powerpoint/2010/main" val="565184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Hardware configuration</a:t>
            </a:r>
            <a:endParaRPr lang="en-IE" dirty="0"/>
          </a:p>
        </p:txBody>
      </p:sp>
      <p:sp>
        <p:nvSpPr>
          <p:cNvPr id="3" name="Content Placeholder 2"/>
          <p:cNvSpPr>
            <a:spLocks noGrp="1"/>
          </p:cNvSpPr>
          <p:nvPr>
            <p:ph idx="1"/>
          </p:nvPr>
        </p:nvSpPr>
        <p:spPr/>
        <p:txBody>
          <a:bodyPr/>
          <a:lstStyle/>
          <a:p>
            <a:r>
              <a:rPr lang="en-IE" dirty="0"/>
              <a:t>One of the kernel’s first chores is to check out the machine’s environment to see what hardware is present. When you construct a kernel for your system, you tell it what hardware devices it should expect to find; when the kernel begins to execute, it tries to locate and initialize each device that you have told it about. The kernel prints out a line of cryptic information about each device it finds</a:t>
            </a:r>
            <a:r>
              <a:rPr lang="en-IE" dirty="0" smtClean="0"/>
              <a:t>. These </a:t>
            </a:r>
            <a:r>
              <a:rPr lang="en-IE" dirty="0"/>
              <a:t>days, distributions include kernels that work on most machine configurations, requiring minimal (if any) customization. </a:t>
            </a:r>
          </a:p>
          <a:p>
            <a:endParaRPr lang="en-IE" dirty="0"/>
          </a:p>
        </p:txBody>
      </p:sp>
    </p:spTree>
    <p:extLst>
      <p:ext uri="{BB962C8B-B14F-4D97-AF65-F5344CB8AC3E}">
        <p14:creationId xmlns:p14="http://schemas.microsoft.com/office/powerpoint/2010/main" val="2393414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Kernel Threads</a:t>
            </a:r>
            <a:endParaRPr lang="en-IE" dirty="0"/>
          </a:p>
        </p:txBody>
      </p:sp>
      <p:sp>
        <p:nvSpPr>
          <p:cNvPr id="3" name="Content Placeholder 2"/>
          <p:cNvSpPr>
            <a:spLocks noGrp="1"/>
          </p:cNvSpPr>
          <p:nvPr>
            <p:ph idx="1"/>
          </p:nvPr>
        </p:nvSpPr>
        <p:spPr>
          <a:xfrm>
            <a:off x="838200" y="1825625"/>
            <a:ext cx="6690575" cy="4351338"/>
          </a:xfrm>
        </p:spPr>
        <p:txBody>
          <a:bodyPr>
            <a:normAutofit fontScale="77500" lnSpcReduction="20000"/>
          </a:bodyPr>
          <a:lstStyle/>
          <a:p>
            <a:r>
              <a:rPr lang="en-IE" dirty="0"/>
              <a:t>Once basic initialization is complete, the kernel creates several “spontaneous” processes in user space. They’re called spontaneous processes because they are not created through the normal system fork mechanism. The number and nature of the spontaneous processes vary from system to system. Under Linux, there is no visible PID 0. </a:t>
            </a:r>
            <a:endParaRPr lang="en-IE" dirty="0" smtClean="0"/>
          </a:p>
          <a:p>
            <a:r>
              <a:rPr lang="en-IE" dirty="0" err="1" smtClean="0"/>
              <a:t>init</a:t>
            </a:r>
            <a:r>
              <a:rPr lang="en-IE" dirty="0" smtClean="0"/>
              <a:t> </a:t>
            </a:r>
            <a:r>
              <a:rPr lang="en-IE" dirty="0"/>
              <a:t>(always process 1) is accompanied by several memory and kernel handler </a:t>
            </a:r>
            <a:r>
              <a:rPr lang="en-IE" dirty="0" smtClean="0"/>
              <a:t>processes.</a:t>
            </a:r>
          </a:p>
          <a:p>
            <a:r>
              <a:rPr lang="en-IE" dirty="0" smtClean="0"/>
              <a:t>These </a:t>
            </a:r>
            <a:r>
              <a:rPr lang="en-IE" dirty="0"/>
              <a:t>processes all have low-numbered PIDs and can be identified by the brackets around their names in </a:t>
            </a:r>
            <a:r>
              <a:rPr lang="en-IE" dirty="0" err="1"/>
              <a:t>ps</a:t>
            </a:r>
            <a:r>
              <a:rPr lang="en-IE" dirty="0"/>
              <a:t> listings (e.g., [</a:t>
            </a:r>
            <a:r>
              <a:rPr lang="en-IE" dirty="0" err="1"/>
              <a:t>kacpid</a:t>
            </a:r>
            <a:r>
              <a:rPr lang="en-IE" dirty="0"/>
              <a:t>]). Sometimes the process names have a slash and a digit at the end, such as [</a:t>
            </a:r>
            <a:r>
              <a:rPr lang="en-IE" dirty="0" err="1"/>
              <a:t>kblockd</a:t>
            </a:r>
            <a:r>
              <a:rPr lang="en-IE" dirty="0"/>
              <a:t>/0]. </a:t>
            </a:r>
            <a:endParaRPr lang="en-IE" dirty="0" smtClean="0"/>
          </a:p>
          <a:p>
            <a:r>
              <a:rPr lang="en-IE" dirty="0" smtClean="0"/>
              <a:t>The </a:t>
            </a:r>
            <a:r>
              <a:rPr lang="en-IE" dirty="0"/>
              <a:t>number indicates the processor on which the thread is running, which may be of interest on a multiprocessor system. </a:t>
            </a:r>
          </a:p>
          <a:p>
            <a:endParaRPr lang="en-IE" dirty="0"/>
          </a:p>
        </p:txBody>
      </p:sp>
      <p:pic>
        <p:nvPicPr>
          <p:cNvPr id="4" name="Picture 3"/>
          <p:cNvPicPr>
            <a:picLocks noChangeAspect="1"/>
          </p:cNvPicPr>
          <p:nvPr/>
        </p:nvPicPr>
        <p:blipFill>
          <a:blip r:embed="rId2"/>
          <a:stretch>
            <a:fillRect/>
          </a:stretch>
        </p:blipFill>
        <p:spPr>
          <a:xfrm>
            <a:off x="7773473" y="2944488"/>
            <a:ext cx="4114800" cy="1247775"/>
          </a:xfrm>
          <a:prstGeom prst="rect">
            <a:avLst/>
          </a:prstGeom>
        </p:spPr>
      </p:pic>
    </p:spTree>
    <p:extLst>
      <p:ext uri="{BB962C8B-B14F-4D97-AF65-F5344CB8AC3E}">
        <p14:creationId xmlns:p14="http://schemas.microsoft.com/office/powerpoint/2010/main" val="3180127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Operator Intervention – manual boot</a:t>
            </a:r>
            <a:endParaRPr lang="en-IE" dirty="0"/>
          </a:p>
        </p:txBody>
      </p:sp>
      <p:sp>
        <p:nvSpPr>
          <p:cNvPr id="3" name="Content Placeholder 2"/>
          <p:cNvSpPr>
            <a:spLocks noGrp="1"/>
          </p:cNvSpPr>
          <p:nvPr>
            <p:ph idx="1"/>
          </p:nvPr>
        </p:nvSpPr>
        <p:spPr/>
        <p:txBody>
          <a:bodyPr/>
          <a:lstStyle/>
          <a:p>
            <a:r>
              <a:rPr lang="en-IE" dirty="0"/>
              <a:t>From the single-user shell, you can execute commands in much the same way as when logged in on a fully booted system. </a:t>
            </a:r>
            <a:r>
              <a:rPr lang="en-IE" dirty="0" smtClean="0"/>
              <a:t>In some operating systems, </a:t>
            </a:r>
            <a:r>
              <a:rPr lang="en-IE" dirty="0"/>
              <a:t>only the root partition is usually mounted; you must mount other </a:t>
            </a:r>
            <a:r>
              <a:rPr lang="en-IE" dirty="0" err="1"/>
              <a:t>filesystems</a:t>
            </a:r>
            <a:r>
              <a:rPr lang="en-IE" dirty="0"/>
              <a:t> by hand to use programs that don’t live in /bin, /</a:t>
            </a:r>
            <a:r>
              <a:rPr lang="en-IE" dirty="0" err="1"/>
              <a:t>sbin</a:t>
            </a:r>
            <a:r>
              <a:rPr lang="en-IE" dirty="0"/>
              <a:t>, or /etc. In many single-user environments, the </a:t>
            </a:r>
            <a:r>
              <a:rPr lang="en-IE" dirty="0" err="1"/>
              <a:t>filesystem</a:t>
            </a:r>
            <a:r>
              <a:rPr lang="en-IE" dirty="0"/>
              <a:t> root directory starts off being mounted read-only. </a:t>
            </a:r>
            <a:endParaRPr lang="en-IE" dirty="0" smtClean="0"/>
          </a:p>
          <a:p>
            <a:r>
              <a:rPr lang="en-IE" dirty="0"/>
              <a:t>The </a:t>
            </a:r>
            <a:r>
              <a:rPr lang="en-IE" dirty="0" err="1"/>
              <a:t>fsck</a:t>
            </a:r>
            <a:r>
              <a:rPr lang="en-IE" dirty="0"/>
              <a:t> command is normally run during an automatic boot to check and repair </a:t>
            </a:r>
            <a:r>
              <a:rPr lang="en-IE" dirty="0" err="1"/>
              <a:t>filesystems</a:t>
            </a:r>
            <a:r>
              <a:rPr lang="en-IE" dirty="0"/>
              <a:t>. When you bring the system up in single-user mode, you may need to run </a:t>
            </a:r>
            <a:r>
              <a:rPr lang="en-IE" dirty="0" err="1"/>
              <a:t>fsck</a:t>
            </a:r>
            <a:r>
              <a:rPr lang="en-IE" dirty="0"/>
              <a:t> by hand. </a:t>
            </a:r>
          </a:p>
          <a:p>
            <a:endParaRPr lang="en-IE" dirty="0"/>
          </a:p>
        </p:txBody>
      </p:sp>
    </p:spTree>
    <p:extLst>
      <p:ext uri="{BB962C8B-B14F-4D97-AF65-F5344CB8AC3E}">
        <p14:creationId xmlns:p14="http://schemas.microsoft.com/office/powerpoint/2010/main" val="1791835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Execution of start up scripts</a:t>
            </a:r>
            <a:endParaRPr lang="en-IE" dirty="0"/>
          </a:p>
        </p:txBody>
      </p:sp>
      <p:sp>
        <p:nvSpPr>
          <p:cNvPr id="3" name="Content Placeholder 2"/>
          <p:cNvSpPr>
            <a:spLocks noGrp="1"/>
          </p:cNvSpPr>
          <p:nvPr>
            <p:ph idx="1"/>
          </p:nvPr>
        </p:nvSpPr>
        <p:spPr/>
        <p:txBody>
          <a:bodyPr/>
          <a:lstStyle/>
          <a:p>
            <a:r>
              <a:rPr lang="en-IE" dirty="0"/>
              <a:t>By the time the system is ready to run its </a:t>
            </a:r>
            <a:r>
              <a:rPr lang="en-IE" dirty="0" err="1"/>
              <a:t>startup</a:t>
            </a:r>
            <a:r>
              <a:rPr lang="en-IE" dirty="0"/>
              <a:t> scripts, it is recognizably Linux. Even though it doesn’t quite look like a fully booted system yet, no more “magic” steps are left in the boot process. The </a:t>
            </a:r>
            <a:r>
              <a:rPr lang="en-IE" dirty="0" err="1"/>
              <a:t>startup</a:t>
            </a:r>
            <a:r>
              <a:rPr lang="en-IE" dirty="0"/>
              <a:t> scripts are just normal shell scripts, and they’re selected and run by </a:t>
            </a:r>
            <a:r>
              <a:rPr lang="en-IE" dirty="0" err="1"/>
              <a:t>init</a:t>
            </a:r>
            <a:r>
              <a:rPr lang="en-IE" dirty="0"/>
              <a:t> according to an algorithm that, though sometimes tortuous, is relatively comprehensible. </a:t>
            </a:r>
          </a:p>
          <a:p>
            <a:endParaRPr lang="en-IE" dirty="0"/>
          </a:p>
        </p:txBody>
      </p:sp>
    </p:spTree>
    <p:extLst>
      <p:ext uri="{BB962C8B-B14F-4D97-AF65-F5344CB8AC3E}">
        <p14:creationId xmlns:p14="http://schemas.microsoft.com/office/powerpoint/2010/main" val="2008459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Start up tasks</a:t>
            </a:r>
            <a:endParaRPr lang="en-IE" dirty="0"/>
          </a:p>
        </p:txBody>
      </p:sp>
      <p:sp>
        <p:nvSpPr>
          <p:cNvPr id="3" name="Content Placeholder 2"/>
          <p:cNvSpPr>
            <a:spLocks noGrp="1"/>
          </p:cNvSpPr>
          <p:nvPr>
            <p:ph idx="1"/>
          </p:nvPr>
        </p:nvSpPr>
        <p:spPr/>
        <p:txBody>
          <a:bodyPr/>
          <a:lstStyle/>
          <a:p>
            <a:r>
              <a:rPr lang="en-IE" dirty="0"/>
              <a:t>Some tasks that are often performed in the </a:t>
            </a:r>
            <a:r>
              <a:rPr lang="en-IE" dirty="0" err="1"/>
              <a:t>startup</a:t>
            </a:r>
            <a:r>
              <a:rPr lang="en-IE" dirty="0"/>
              <a:t> scripts are</a:t>
            </a:r>
          </a:p>
          <a:p>
            <a:r>
              <a:rPr lang="en-IE" dirty="0"/>
              <a:t>Setting the name of the computer</a:t>
            </a:r>
          </a:p>
          <a:p>
            <a:r>
              <a:rPr lang="en-IE" dirty="0"/>
              <a:t>Setting the time zone </a:t>
            </a:r>
          </a:p>
          <a:p>
            <a:r>
              <a:rPr lang="en-IE" dirty="0"/>
              <a:t>Checking the disks with </a:t>
            </a:r>
            <a:r>
              <a:rPr lang="en-IE" dirty="0" err="1"/>
              <a:t>fsck</a:t>
            </a:r>
            <a:r>
              <a:rPr lang="en-IE" dirty="0"/>
              <a:t> (only in automatic mode)</a:t>
            </a:r>
          </a:p>
          <a:p>
            <a:r>
              <a:rPr lang="en-IE" dirty="0"/>
              <a:t>Mounting the system’s disks</a:t>
            </a:r>
          </a:p>
          <a:p>
            <a:r>
              <a:rPr lang="en-IE" dirty="0"/>
              <a:t>Removing old files from the /</a:t>
            </a:r>
            <a:r>
              <a:rPr lang="en-IE" dirty="0" err="1"/>
              <a:t>tmp</a:t>
            </a:r>
            <a:r>
              <a:rPr lang="en-IE" dirty="0"/>
              <a:t> directory</a:t>
            </a:r>
          </a:p>
          <a:p>
            <a:r>
              <a:rPr lang="en-IE" dirty="0"/>
              <a:t>Configuring network interfaces</a:t>
            </a:r>
          </a:p>
          <a:p>
            <a:r>
              <a:rPr lang="en-IE" dirty="0"/>
              <a:t>Starting up daemons and network services </a:t>
            </a:r>
          </a:p>
          <a:p>
            <a:endParaRPr lang="en-IE" dirty="0"/>
          </a:p>
        </p:txBody>
      </p:sp>
    </p:spTree>
    <p:extLst>
      <p:ext uri="{BB962C8B-B14F-4D97-AF65-F5344CB8AC3E}">
        <p14:creationId xmlns:p14="http://schemas.microsoft.com/office/powerpoint/2010/main" val="3657871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Multi-user operation</a:t>
            </a:r>
            <a:endParaRPr lang="en-IE" dirty="0"/>
          </a:p>
        </p:txBody>
      </p:sp>
      <p:sp>
        <p:nvSpPr>
          <p:cNvPr id="3" name="Content Placeholder 2"/>
          <p:cNvSpPr>
            <a:spLocks noGrp="1"/>
          </p:cNvSpPr>
          <p:nvPr>
            <p:ph idx="1"/>
          </p:nvPr>
        </p:nvSpPr>
        <p:spPr/>
        <p:txBody>
          <a:bodyPr/>
          <a:lstStyle/>
          <a:p>
            <a:r>
              <a:rPr lang="en-IE" dirty="0"/>
              <a:t>After the initialization scripts have run, the system is fully operational, except that no one can log in. For logins to be accepted on a particular terminal (including the console), a </a:t>
            </a:r>
            <a:r>
              <a:rPr lang="en-IE" dirty="0" err="1"/>
              <a:t>getty</a:t>
            </a:r>
            <a:r>
              <a:rPr lang="en-IE" dirty="0"/>
              <a:t> process must be listening on it. </a:t>
            </a:r>
            <a:r>
              <a:rPr lang="en-IE" dirty="0" err="1"/>
              <a:t>init</a:t>
            </a:r>
            <a:r>
              <a:rPr lang="en-IE" dirty="0"/>
              <a:t> spawns these </a:t>
            </a:r>
            <a:r>
              <a:rPr lang="en-IE" dirty="0" err="1"/>
              <a:t>getty</a:t>
            </a:r>
            <a:r>
              <a:rPr lang="en-IE" dirty="0"/>
              <a:t> processes directly, completing the boot process. </a:t>
            </a:r>
            <a:r>
              <a:rPr lang="en-IE" dirty="0" err="1"/>
              <a:t>init</a:t>
            </a:r>
            <a:r>
              <a:rPr lang="en-IE" dirty="0"/>
              <a:t> is also responsible for spawning graphical login systems such as </a:t>
            </a:r>
            <a:r>
              <a:rPr lang="en-IE" dirty="0" err="1"/>
              <a:t>xdm</a:t>
            </a:r>
            <a:r>
              <a:rPr lang="en-IE" dirty="0"/>
              <a:t> or </a:t>
            </a:r>
            <a:r>
              <a:rPr lang="en-IE" dirty="0" err="1"/>
              <a:t>gdm</a:t>
            </a:r>
            <a:r>
              <a:rPr lang="en-IE" dirty="0"/>
              <a:t> if the system is set up to use them. </a:t>
            </a:r>
            <a:endParaRPr lang="en-IE" dirty="0" smtClean="0"/>
          </a:p>
          <a:p>
            <a:r>
              <a:rPr lang="en-IE" dirty="0" err="1" smtClean="0"/>
              <a:t>init</a:t>
            </a:r>
            <a:r>
              <a:rPr lang="en-IE" dirty="0" smtClean="0"/>
              <a:t> </a:t>
            </a:r>
            <a:r>
              <a:rPr lang="en-IE" dirty="0"/>
              <a:t>continues to perform an important role even after bootstrapping is complete. </a:t>
            </a:r>
            <a:r>
              <a:rPr lang="en-IE" dirty="0" err="1"/>
              <a:t>init</a:t>
            </a:r>
            <a:r>
              <a:rPr lang="en-IE" dirty="0"/>
              <a:t> has one single-user and several multiuser “run levels” that determine which of the system’s resources are enabled </a:t>
            </a:r>
          </a:p>
          <a:p>
            <a:endParaRPr lang="en-IE" dirty="0"/>
          </a:p>
        </p:txBody>
      </p:sp>
    </p:spTree>
    <p:extLst>
      <p:ext uri="{BB962C8B-B14F-4D97-AF65-F5344CB8AC3E}">
        <p14:creationId xmlns:p14="http://schemas.microsoft.com/office/powerpoint/2010/main" val="110263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Run Levels</a:t>
            </a:r>
            <a:endParaRPr lang="en-IE" dirty="0"/>
          </a:p>
        </p:txBody>
      </p:sp>
      <p:sp>
        <p:nvSpPr>
          <p:cNvPr id="3" name="Content Placeholder 2"/>
          <p:cNvSpPr>
            <a:spLocks noGrp="1"/>
          </p:cNvSpPr>
          <p:nvPr>
            <p:ph idx="1"/>
          </p:nvPr>
        </p:nvSpPr>
        <p:spPr/>
        <p:txBody>
          <a:bodyPr>
            <a:normAutofit fontScale="92500" lnSpcReduction="20000"/>
          </a:bodyPr>
          <a:lstStyle/>
          <a:p>
            <a:r>
              <a:rPr lang="en-IE" dirty="0" err="1"/>
              <a:t>init</a:t>
            </a:r>
            <a:r>
              <a:rPr lang="en-IE" dirty="0"/>
              <a:t> defines seven run levels, each of which represents a particular complement of services that the system should be </a:t>
            </a:r>
            <a:r>
              <a:rPr lang="en-IE" dirty="0" smtClean="0"/>
              <a:t>running:</a:t>
            </a:r>
          </a:p>
          <a:p>
            <a:pPr lvl="1"/>
            <a:r>
              <a:rPr lang="en-IE" dirty="0" smtClean="0"/>
              <a:t>Level </a:t>
            </a:r>
            <a:r>
              <a:rPr lang="en-IE" dirty="0"/>
              <a:t>0 is the level in which the system is completely shut </a:t>
            </a:r>
            <a:r>
              <a:rPr lang="en-IE" dirty="0" smtClean="0"/>
              <a:t>down.</a:t>
            </a:r>
          </a:p>
          <a:p>
            <a:pPr lvl="1"/>
            <a:r>
              <a:rPr lang="en-IE" dirty="0" smtClean="0"/>
              <a:t>Level </a:t>
            </a:r>
            <a:r>
              <a:rPr lang="en-IE" dirty="0"/>
              <a:t>1 or S represents single-user </a:t>
            </a:r>
            <a:r>
              <a:rPr lang="en-IE" dirty="0" smtClean="0"/>
              <a:t>mode.</a:t>
            </a:r>
          </a:p>
          <a:p>
            <a:pPr lvl="1"/>
            <a:r>
              <a:rPr lang="en-IE" dirty="0" smtClean="0"/>
              <a:t>Levels </a:t>
            </a:r>
            <a:r>
              <a:rPr lang="en-IE" dirty="0"/>
              <a:t>2 through 5 are multiuser </a:t>
            </a:r>
            <a:r>
              <a:rPr lang="en-IE" dirty="0" smtClean="0"/>
              <a:t>levels.</a:t>
            </a:r>
          </a:p>
          <a:p>
            <a:pPr lvl="1"/>
            <a:r>
              <a:rPr lang="en-IE" dirty="0" smtClean="0"/>
              <a:t>Level </a:t>
            </a:r>
            <a:r>
              <a:rPr lang="en-IE" dirty="0"/>
              <a:t>6 is a “reboot” </a:t>
            </a:r>
            <a:r>
              <a:rPr lang="en-IE" dirty="0" smtClean="0"/>
              <a:t>level.</a:t>
            </a:r>
          </a:p>
          <a:p>
            <a:r>
              <a:rPr lang="en-IE" dirty="0" smtClean="0"/>
              <a:t>Levels </a:t>
            </a:r>
            <a:r>
              <a:rPr lang="en-IE" dirty="0"/>
              <a:t>0 and 6 are special in that the system can’t actually remain in them; it shuts down or reboots as a side effect of entering them. The general multiuser run level is 2 or 3</a:t>
            </a:r>
            <a:r>
              <a:rPr lang="en-IE" dirty="0" smtClean="0"/>
              <a:t>.</a:t>
            </a:r>
          </a:p>
          <a:p>
            <a:r>
              <a:rPr lang="en-IE" dirty="0"/>
              <a:t>The /</a:t>
            </a:r>
            <a:r>
              <a:rPr lang="en-IE" dirty="0" err="1"/>
              <a:t>etc</a:t>
            </a:r>
            <a:r>
              <a:rPr lang="en-IE" dirty="0"/>
              <a:t>/</a:t>
            </a:r>
            <a:r>
              <a:rPr lang="en-IE" dirty="0" err="1"/>
              <a:t>inittab</a:t>
            </a:r>
            <a:r>
              <a:rPr lang="en-IE" dirty="0"/>
              <a:t> file tells </a:t>
            </a:r>
            <a:r>
              <a:rPr lang="en-IE" dirty="0" err="1"/>
              <a:t>init</a:t>
            </a:r>
            <a:r>
              <a:rPr lang="en-IE" dirty="0"/>
              <a:t> what to do at each of its run levels. Its format varies from system to system, but the basic idea is that </a:t>
            </a:r>
            <a:r>
              <a:rPr lang="en-IE" dirty="0" err="1"/>
              <a:t>inittab</a:t>
            </a:r>
            <a:r>
              <a:rPr lang="en-IE" dirty="0"/>
              <a:t> defines commands that are to be run (or kept running) when the system enters each level.</a:t>
            </a:r>
          </a:p>
          <a:p>
            <a:endParaRPr lang="en-IE" dirty="0"/>
          </a:p>
        </p:txBody>
      </p:sp>
    </p:spTree>
    <p:extLst>
      <p:ext uri="{BB962C8B-B14F-4D97-AF65-F5344CB8AC3E}">
        <p14:creationId xmlns:p14="http://schemas.microsoft.com/office/powerpoint/2010/main" val="3943106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Starting and Stopping services</a:t>
            </a:r>
            <a:endParaRPr lang="en-IE" dirty="0"/>
          </a:p>
        </p:txBody>
      </p:sp>
      <p:sp>
        <p:nvSpPr>
          <p:cNvPr id="3" name="Content Placeholder 2"/>
          <p:cNvSpPr>
            <a:spLocks noGrp="1"/>
          </p:cNvSpPr>
          <p:nvPr>
            <p:ph idx="1"/>
          </p:nvPr>
        </p:nvSpPr>
        <p:spPr/>
        <p:txBody>
          <a:bodyPr>
            <a:normAutofit lnSpcReduction="10000"/>
          </a:bodyPr>
          <a:lstStyle/>
          <a:p>
            <a:r>
              <a:rPr lang="en-IE" dirty="0"/>
              <a:t>To tell the system when to start a daemon, you must place symbolic links into the appropriate directory. For example, to tell the system to start CUPS at run level 2 and to stop it nicely before shutting down, the following pair of links would suffice:</a:t>
            </a:r>
          </a:p>
          <a:p>
            <a:r>
              <a:rPr lang="en-IE" dirty="0"/>
              <a:t># </a:t>
            </a:r>
            <a:r>
              <a:rPr lang="en-IE" dirty="0" err="1"/>
              <a:t>ln</a:t>
            </a:r>
            <a:r>
              <a:rPr lang="en-IE" dirty="0"/>
              <a:t> -s /</a:t>
            </a:r>
            <a:r>
              <a:rPr lang="en-IE" dirty="0" err="1"/>
              <a:t>etc</a:t>
            </a:r>
            <a:r>
              <a:rPr lang="en-IE" dirty="0"/>
              <a:t>/</a:t>
            </a:r>
            <a:r>
              <a:rPr lang="en-IE" dirty="0" err="1"/>
              <a:t>init.d</a:t>
            </a:r>
            <a:r>
              <a:rPr lang="en-IE" dirty="0"/>
              <a:t>/cups /</a:t>
            </a:r>
            <a:r>
              <a:rPr lang="en-IE" dirty="0" err="1"/>
              <a:t>etc</a:t>
            </a:r>
            <a:r>
              <a:rPr lang="en-IE" dirty="0"/>
              <a:t>/rc2.d/S80cups</a:t>
            </a:r>
          </a:p>
          <a:p>
            <a:r>
              <a:rPr lang="en-IE" dirty="0"/>
              <a:t># </a:t>
            </a:r>
            <a:r>
              <a:rPr lang="en-IE" dirty="0" err="1"/>
              <a:t>ln</a:t>
            </a:r>
            <a:r>
              <a:rPr lang="en-IE" dirty="0"/>
              <a:t> -s /</a:t>
            </a:r>
            <a:r>
              <a:rPr lang="en-IE" dirty="0" err="1"/>
              <a:t>etc</a:t>
            </a:r>
            <a:r>
              <a:rPr lang="en-IE" dirty="0"/>
              <a:t>/</a:t>
            </a:r>
            <a:r>
              <a:rPr lang="en-IE" dirty="0" err="1"/>
              <a:t>init.d</a:t>
            </a:r>
            <a:r>
              <a:rPr lang="en-IE" dirty="0"/>
              <a:t>/cups /</a:t>
            </a:r>
            <a:r>
              <a:rPr lang="en-IE" dirty="0" err="1"/>
              <a:t>etc</a:t>
            </a:r>
            <a:r>
              <a:rPr lang="en-IE" dirty="0"/>
              <a:t>/rc0.d/K80cups</a:t>
            </a:r>
          </a:p>
          <a:p>
            <a:r>
              <a:rPr lang="en-IE" dirty="0"/>
              <a:t>The first line tells the system to run the /</a:t>
            </a:r>
            <a:r>
              <a:rPr lang="en-IE" dirty="0" err="1"/>
              <a:t>etc</a:t>
            </a:r>
            <a:r>
              <a:rPr lang="en-IE" dirty="0"/>
              <a:t>/</a:t>
            </a:r>
            <a:r>
              <a:rPr lang="en-IE" dirty="0" err="1"/>
              <a:t>init.d</a:t>
            </a:r>
            <a:r>
              <a:rPr lang="en-IE" dirty="0"/>
              <a:t>/cups </a:t>
            </a:r>
            <a:r>
              <a:rPr lang="en-IE" dirty="0" err="1"/>
              <a:t>startup</a:t>
            </a:r>
            <a:r>
              <a:rPr lang="en-IE" dirty="0"/>
              <a:t> script as one of the last things to do when entering run level 2 and to run the script with the start argument. The second line tells the system to run /</a:t>
            </a:r>
            <a:r>
              <a:rPr lang="en-IE" dirty="0" err="1"/>
              <a:t>etc</a:t>
            </a:r>
            <a:r>
              <a:rPr lang="en-IE" dirty="0"/>
              <a:t>/</a:t>
            </a:r>
            <a:r>
              <a:rPr lang="en-IE" dirty="0" err="1"/>
              <a:t>init.d</a:t>
            </a:r>
            <a:r>
              <a:rPr lang="en-IE" dirty="0"/>
              <a:t>/cups relatively soon when shutting down the system and to run the script with the stop argument.</a:t>
            </a:r>
          </a:p>
          <a:p>
            <a:endParaRPr lang="en-IE" dirty="0"/>
          </a:p>
        </p:txBody>
      </p:sp>
      <p:cxnSp>
        <p:nvCxnSpPr>
          <p:cNvPr id="7" name="Straight Arrow Connector 6"/>
          <p:cNvCxnSpPr/>
          <p:nvPr/>
        </p:nvCxnSpPr>
        <p:spPr>
          <a:xfrm flipH="1">
            <a:off x="5563673" y="3103808"/>
            <a:ext cx="2215166" cy="3734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2969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Super user</a:t>
            </a:r>
            <a:endParaRPr lang="en-IE" dirty="0"/>
          </a:p>
        </p:txBody>
      </p:sp>
      <p:sp>
        <p:nvSpPr>
          <p:cNvPr id="3" name="Content Placeholder 2"/>
          <p:cNvSpPr>
            <a:spLocks noGrp="1"/>
          </p:cNvSpPr>
          <p:nvPr>
            <p:ph idx="1"/>
          </p:nvPr>
        </p:nvSpPr>
        <p:spPr/>
        <p:txBody>
          <a:bodyPr/>
          <a:lstStyle/>
          <a:p>
            <a:r>
              <a:rPr lang="en-IE" dirty="0"/>
              <a:t>Changing the root directory of a process with </a:t>
            </a:r>
            <a:r>
              <a:rPr lang="en-IE" dirty="0" err="1"/>
              <a:t>chroot</a:t>
            </a:r>
            <a:endParaRPr lang="en-IE" dirty="0"/>
          </a:p>
          <a:p>
            <a:r>
              <a:rPr lang="en-IE" dirty="0"/>
              <a:t>Creating device files</a:t>
            </a:r>
          </a:p>
          <a:p>
            <a:r>
              <a:rPr lang="en-IE" dirty="0"/>
              <a:t>Setting the system clock</a:t>
            </a:r>
          </a:p>
          <a:p>
            <a:r>
              <a:rPr lang="en-IE" dirty="0"/>
              <a:t>Raising resource usage limits and process priorities3</a:t>
            </a:r>
          </a:p>
          <a:p>
            <a:r>
              <a:rPr lang="en-IE" dirty="0"/>
              <a:t>Setting the system’s hostname</a:t>
            </a:r>
          </a:p>
          <a:p>
            <a:r>
              <a:rPr lang="en-IE" dirty="0"/>
              <a:t>Configuring network interfaces</a:t>
            </a:r>
          </a:p>
          <a:p>
            <a:r>
              <a:rPr lang="en-IE" dirty="0"/>
              <a:t>Opening privileged network ports (those numbered below 1,024)</a:t>
            </a:r>
          </a:p>
          <a:p>
            <a:r>
              <a:rPr lang="en-IE" dirty="0"/>
              <a:t>Shutting down the system</a:t>
            </a:r>
          </a:p>
          <a:p>
            <a:endParaRPr lang="en-IE" dirty="0"/>
          </a:p>
        </p:txBody>
      </p:sp>
    </p:spTree>
    <p:extLst>
      <p:ext uri="{BB962C8B-B14F-4D97-AF65-F5344CB8AC3E}">
        <p14:creationId xmlns:p14="http://schemas.microsoft.com/office/powerpoint/2010/main" val="3562912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Processes – Signals, Interrupts, states</a:t>
            </a:r>
            <a:endParaRPr lang="en-IE" dirty="0"/>
          </a:p>
        </p:txBody>
      </p:sp>
      <p:pic>
        <p:nvPicPr>
          <p:cNvPr id="3" name="Picture 2"/>
          <p:cNvPicPr>
            <a:picLocks noChangeAspect="1"/>
          </p:cNvPicPr>
          <p:nvPr/>
        </p:nvPicPr>
        <p:blipFill>
          <a:blip r:embed="rId2"/>
          <a:stretch>
            <a:fillRect/>
          </a:stretch>
        </p:blipFill>
        <p:spPr>
          <a:xfrm>
            <a:off x="838200" y="2006421"/>
            <a:ext cx="4343400" cy="2819400"/>
          </a:xfrm>
          <a:prstGeom prst="rect">
            <a:avLst/>
          </a:prstGeom>
        </p:spPr>
      </p:pic>
      <p:pic>
        <p:nvPicPr>
          <p:cNvPr id="4" name="Picture 3"/>
          <p:cNvPicPr>
            <a:picLocks noChangeAspect="1"/>
          </p:cNvPicPr>
          <p:nvPr/>
        </p:nvPicPr>
        <p:blipFill>
          <a:blip r:embed="rId3"/>
          <a:stretch>
            <a:fillRect/>
          </a:stretch>
        </p:blipFill>
        <p:spPr>
          <a:xfrm>
            <a:off x="6232368" y="3317785"/>
            <a:ext cx="3590925" cy="1123950"/>
          </a:xfrm>
          <a:prstGeom prst="rect">
            <a:avLst/>
          </a:prstGeom>
        </p:spPr>
      </p:pic>
    </p:spTree>
    <p:extLst>
      <p:ext uri="{BB962C8B-B14F-4D97-AF65-F5344CB8AC3E}">
        <p14:creationId xmlns:p14="http://schemas.microsoft.com/office/powerpoint/2010/main" val="4211879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Processes</a:t>
            </a:r>
            <a:endParaRPr lang="en-IE" dirty="0"/>
          </a:p>
        </p:txBody>
      </p:sp>
      <p:pic>
        <p:nvPicPr>
          <p:cNvPr id="3" name="Picture 2"/>
          <p:cNvPicPr>
            <a:picLocks noChangeAspect="1"/>
          </p:cNvPicPr>
          <p:nvPr/>
        </p:nvPicPr>
        <p:blipFill>
          <a:blip r:embed="rId2"/>
          <a:stretch>
            <a:fillRect/>
          </a:stretch>
        </p:blipFill>
        <p:spPr>
          <a:xfrm>
            <a:off x="941365" y="1495425"/>
            <a:ext cx="4591050" cy="3867150"/>
          </a:xfrm>
          <a:prstGeom prst="rect">
            <a:avLst/>
          </a:prstGeom>
        </p:spPr>
      </p:pic>
      <p:pic>
        <p:nvPicPr>
          <p:cNvPr id="4" name="Picture 3"/>
          <p:cNvPicPr>
            <a:picLocks noChangeAspect="1"/>
          </p:cNvPicPr>
          <p:nvPr/>
        </p:nvPicPr>
        <p:blipFill>
          <a:blip r:embed="rId3"/>
          <a:stretch>
            <a:fillRect/>
          </a:stretch>
        </p:blipFill>
        <p:spPr>
          <a:xfrm>
            <a:off x="6510471" y="2744139"/>
            <a:ext cx="4219575" cy="3790950"/>
          </a:xfrm>
          <a:prstGeom prst="rect">
            <a:avLst/>
          </a:prstGeom>
        </p:spPr>
      </p:pic>
    </p:spTree>
    <p:extLst>
      <p:ext uri="{BB962C8B-B14F-4D97-AF65-F5344CB8AC3E}">
        <p14:creationId xmlns:p14="http://schemas.microsoft.com/office/powerpoint/2010/main" val="52394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a:t>
            </a:r>
            <a:r>
              <a:rPr lang="en-IE" dirty="0" err="1" smtClean="0"/>
              <a:t>proc</a:t>
            </a:r>
            <a:r>
              <a:rPr lang="en-IE" dirty="0" smtClean="0"/>
              <a:t> </a:t>
            </a:r>
            <a:r>
              <a:rPr lang="en-IE" dirty="0" err="1" smtClean="0"/>
              <a:t>filesystem</a:t>
            </a:r>
            <a:endParaRPr lang="en-IE" dirty="0"/>
          </a:p>
        </p:txBody>
      </p:sp>
      <p:pic>
        <p:nvPicPr>
          <p:cNvPr id="4" name="Picture 3"/>
          <p:cNvPicPr>
            <a:picLocks noChangeAspect="1"/>
          </p:cNvPicPr>
          <p:nvPr/>
        </p:nvPicPr>
        <p:blipFill>
          <a:blip r:embed="rId2"/>
          <a:stretch>
            <a:fillRect/>
          </a:stretch>
        </p:blipFill>
        <p:spPr>
          <a:xfrm>
            <a:off x="1997299" y="2012659"/>
            <a:ext cx="7272918" cy="3628287"/>
          </a:xfrm>
          <a:prstGeom prst="rect">
            <a:avLst/>
          </a:prstGeom>
        </p:spPr>
      </p:pic>
    </p:spTree>
    <p:extLst>
      <p:ext uri="{BB962C8B-B14F-4D97-AF65-F5344CB8AC3E}">
        <p14:creationId xmlns:p14="http://schemas.microsoft.com/office/powerpoint/2010/main" val="1725917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err="1" smtClean="0"/>
              <a:t>Cron</a:t>
            </a:r>
            <a:r>
              <a:rPr lang="en-IE" dirty="0" smtClean="0"/>
              <a:t> - scheduler</a:t>
            </a:r>
            <a:endParaRPr lang="en-IE" dirty="0"/>
          </a:p>
        </p:txBody>
      </p:sp>
      <p:sp>
        <p:nvSpPr>
          <p:cNvPr id="3" name="Content Placeholder 2"/>
          <p:cNvSpPr>
            <a:spLocks noGrp="1"/>
          </p:cNvSpPr>
          <p:nvPr>
            <p:ph idx="1"/>
          </p:nvPr>
        </p:nvSpPr>
        <p:spPr>
          <a:xfrm>
            <a:off x="838200" y="1825625"/>
            <a:ext cx="10515600" cy="2463040"/>
          </a:xfrm>
        </p:spPr>
        <p:txBody>
          <a:bodyPr>
            <a:normAutofit fontScale="85000" lnSpcReduction="20000"/>
          </a:bodyPr>
          <a:lstStyle/>
          <a:p>
            <a:pPr marL="0" indent="0">
              <a:buNone/>
            </a:pPr>
            <a:r>
              <a:rPr lang="en-IE" dirty="0" err="1"/>
              <a:t>Crontab</a:t>
            </a:r>
            <a:r>
              <a:rPr lang="en-IE" dirty="0"/>
              <a:t> files that schedule system maintenance tasks and other tasks defined by the system administrator are stored in the file /</a:t>
            </a:r>
            <a:r>
              <a:rPr lang="en-IE" dirty="0" err="1"/>
              <a:t>etc</a:t>
            </a:r>
            <a:r>
              <a:rPr lang="en-IE" dirty="0"/>
              <a:t>/</a:t>
            </a:r>
            <a:r>
              <a:rPr lang="en-IE" dirty="0" err="1"/>
              <a:t>crontab</a:t>
            </a:r>
            <a:r>
              <a:rPr lang="en-IE" dirty="0"/>
              <a:t> and in other files found in the /</a:t>
            </a:r>
            <a:r>
              <a:rPr lang="en-IE" dirty="0" err="1"/>
              <a:t>etc</a:t>
            </a:r>
            <a:r>
              <a:rPr lang="en-IE" dirty="0"/>
              <a:t>/</a:t>
            </a:r>
            <a:r>
              <a:rPr lang="en-IE" dirty="0" err="1"/>
              <a:t>cron.d</a:t>
            </a:r>
            <a:r>
              <a:rPr lang="en-IE" dirty="0"/>
              <a:t> directory. These files have a slightly different format from the </a:t>
            </a:r>
            <a:r>
              <a:rPr lang="en-IE" dirty="0" err="1"/>
              <a:t>peruser</a:t>
            </a:r>
            <a:r>
              <a:rPr lang="en-IE" dirty="0"/>
              <a:t> </a:t>
            </a:r>
            <a:r>
              <a:rPr lang="en-IE" dirty="0" err="1"/>
              <a:t>crontab</a:t>
            </a:r>
            <a:r>
              <a:rPr lang="en-IE" dirty="0"/>
              <a:t> files because they allow commands to be run as an arbitrary user. </a:t>
            </a:r>
            <a:endParaRPr lang="en-IE" dirty="0" smtClean="0"/>
          </a:p>
          <a:p>
            <a:pPr marL="0" indent="0">
              <a:buNone/>
            </a:pPr>
            <a:r>
              <a:rPr lang="en-IE" dirty="0" err="1" smtClean="0"/>
              <a:t>Cron</a:t>
            </a:r>
            <a:r>
              <a:rPr lang="en-IE" dirty="0" smtClean="0"/>
              <a:t> </a:t>
            </a:r>
            <a:r>
              <a:rPr lang="en-IE" dirty="0"/>
              <a:t>treats the /</a:t>
            </a:r>
            <a:r>
              <a:rPr lang="en-IE" dirty="0" err="1"/>
              <a:t>etc</a:t>
            </a:r>
            <a:r>
              <a:rPr lang="en-IE" dirty="0"/>
              <a:t>/</a:t>
            </a:r>
            <a:r>
              <a:rPr lang="en-IE" dirty="0" err="1"/>
              <a:t>crontab</a:t>
            </a:r>
            <a:r>
              <a:rPr lang="en-IE" dirty="0"/>
              <a:t> and /</a:t>
            </a:r>
            <a:r>
              <a:rPr lang="en-IE" dirty="0" err="1"/>
              <a:t>etc</a:t>
            </a:r>
            <a:r>
              <a:rPr lang="en-IE" dirty="0"/>
              <a:t>/</a:t>
            </a:r>
            <a:r>
              <a:rPr lang="en-IE" dirty="0" err="1"/>
              <a:t>cron.d</a:t>
            </a:r>
            <a:r>
              <a:rPr lang="en-IE" dirty="0"/>
              <a:t> entries in exactly the same way. In general, /</a:t>
            </a:r>
            <a:r>
              <a:rPr lang="en-IE" dirty="0" err="1"/>
              <a:t>etc</a:t>
            </a:r>
            <a:r>
              <a:rPr lang="en-IE" dirty="0"/>
              <a:t>/</a:t>
            </a:r>
            <a:r>
              <a:rPr lang="en-IE" dirty="0" err="1"/>
              <a:t>crontab</a:t>
            </a:r>
            <a:r>
              <a:rPr lang="en-IE" dirty="0"/>
              <a:t> is intended as a file for the system administrator to maintain by hand, whereas /</a:t>
            </a:r>
            <a:r>
              <a:rPr lang="en-IE" dirty="0" err="1"/>
              <a:t>etc</a:t>
            </a:r>
            <a:r>
              <a:rPr lang="en-IE" dirty="0"/>
              <a:t>/</a:t>
            </a:r>
            <a:r>
              <a:rPr lang="en-IE" dirty="0" err="1"/>
              <a:t>cron.d</a:t>
            </a:r>
            <a:r>
              <a:rPr lang="en-IE" dirty="0"/>
              <a:t> is provided as a place where software packages can install any </a:t>
            </a:r>
            <a:r>
              <a:rPr lang="en-IE" dirty="0" err="1"/>
              <a:t>crontab</a:t>
            </a:r>
            <a:r>
              <a:rPr lang="en-IE" dirty="0"/>
              <a:t> entries they might need.</a:t>
            </a:r>
          </a:p>
          <a:p>
            <a:pPr marL="0" indent="0">
              <a:buNone/>
            </a:pPr>
            <a:endParaRPr lang="en-IE" dirty="0"/>
          </a:p>
        </p:txBody>
      </p:sp>
      <p:pic>
        <p:nvPicPr>
          <p:cNvPr id="4" name="Picture 3"/>
          <p:cNvPicPr>
            <a:picLocks noChangeAspect="1"/>
          </p:cNvPicPr>
          <p:nvPr/>
        </p:nvPicPr>
        <p:blipFill>
          <a:blip r:embed="rId2"/>
          <a:stretch>
            <a:fillRect/>
          </a:stretch>
        </p:blipFill>
        <p:spPr>
          <a:xfrm>
            <a:off x="838200" y="4288665"/>
            <a:ext cx="3105150" cy="1314450"/>
          </a:xfrm>
          <a:prstGeom prst="rect">
            <a:avLst/>
          </a:prstGeom>
        </p:spPr>
      </p:pic>
      <p:sp>
        <p:nvSpPr>
          <p:cNvPr id="5" name="Rectangle 4"/>
          <p:cNvSpPr/>
          <p:nvPr/>
        </p:nvSpPr>
        <p:spPr>
          <a:xfrm>
            <a:off x="4799526" y="4187343"/>
            <a:ext cx="6096000" cy="1415772"/>
          </a:xfrm>
          <a:prstGeom prst="rect">
            <a:avLst/>
          </a:prstGeom>
        </p:spPr>
        <p:txBody>
          <a:bodyPr>
            <a:spAutoFit/>
          </a:bodyPr>
          <a:lstStyle/>
          <a:p>
            <a:r>
              <a:rPr lang="en-IE" b="0" i="0" u="none" strike="noStrike" baseline="0" dirty="0" smtClean="0">
                <a:latin typeface="MinionMM-380-540-8-"/>
              </a:rPr>
              <a:t>All the </a:t>
            </a:r>
            <a:r>
              <a:rPr lang="en-IE" b="0" i="0" u="none" strike="noStrike" baseline="0" dirty="0" err="1" smtClean="0">
                <a:latin typeface="MinionMM-380-540-8-"/>
              </a:rPr>
              <a:t>crontab</a:t>
            </a:r>
            <a:r>
              <a:rPr lang="en-IE" b="0" i="0" u="none" strike="noStrike" baseline="0" dirty="0" smtClean="0">
                <a:latin typeface="MinionMM-380-540-8-"/>
              </a:rPr>
              <a:t> files on a system share a similar format. Comments are introduced with a pound sign (#) in the first column of a line. Each non comment line contains</a:t>
            </a:r>
          </a:p>
          <a:p>
            <a:r>
              <a:rPr lang="en-IE" b="0" i="0" u="none" strike="noStrike" baseline="0" dirty="0" smtClean="0">
                <a:latin typeface="MinionMM-380-540-8-"/>
              </a:rPr>
              <a:t>six fields and represents one command:</a:t>
            </a:r>
          </a:p>
          <a:p>
            <a:r>
              <a:rPr lang="en-IE" sz="1400" b="0" i="1" u="none" strike="noStrike" baseline="0" dirty="0" smtClean="0">
                <a:latin typeface="Caecilia-LightItalic"/>
              </a:rPr>
              <a:t>minute hour day month weekday command</a:t>
            </a:r>
            <a:endParaRPr lang="en-IE" dirty="0"/>
          </a:p>
        </p:txBody>
      </p:sp>
      <p:sp>
        <p:nvSpPr>
          <p:cNvPr id="6" name="Rectangle 5"/>
          <p:cNvSpPr/>
          <p:nvPr/>
        </p:nvSpPr>
        <p:spPr>
          <a:xfrm>
            <a:off x="4799526" y="5788609"/>
            <a:ext cx="6096000" cy="861774"/>
          </a:xfrm>
          <a:prstGeom prst="rect">
            <a:avLst/>
          </a:prstGeom>
        </p:spPr>
        <p:txBody>
          <a:bodyPr>
            <a:spAutoFit/>
          </a:bodyPr>
          <a:lstStyle/>
          <a:p>
            <a:r>
              <a:rPr lang="en-IE" b="0" i="0" u="none" strike="noStrike" baseline="0" dirty="0" smtClean="0">
                <a:latin typeface="MinionMM-380-540-8-"/>
              </a:rPr>
              <a:t>The time specification</a:t>
            </a:r>
          </a:p>
          <a:p>
            <a:r>
              <a:rPr lang="en-IE" sz="1400" b="0" i="0" u="none" strike="noStrike" baseline="0" dirty="0" smtClean="0">
                <a:latin typeface="Caecilia-Light"/>
              </a:rPr>
              <a:t>45 10 </a:t>
            </a:r>
            <a:r>
              <a:rPr lang="en-IE" sz="1400" b="0" i="0" u="none" strike="noStrike" baseline="0" dirty="0" smtClean="0">
                <a:latin typeface="CourierNew"/>
              </a:rPr>
              <a:t>* * </a:t>
            </a:r>
            <a:r>
              <a:rPr lang="en-IE" sz="1400" b="0" i="0" u="none" strike="noStrike" baseline="0" dirty="0" smtClean="0">
                <a:latin typeface="Caecilia-Light"/>
              </a:rPr>
              <a:t>1-5</a:t>
            </a:r>
          </a:p>
          <a:p>
            <a:r>
              <a:rPr lang="en-IE" b="0" i="0" u="none" strike="noStrike" baseline="0" dirty="0" smtClean="0">
                <a:latin typeface="MinionMM-380-540-8-"/>
              </a:rPr>
              <a:t>means “10:45 a.m., Monday through Friday.”</a:t>
            </a:r>
            <a:endParaRPr lang="en-IE" dirty="0"/>
          </a:p>
        </p:txBody>
      </p:sp>
    </p:spTree>
    <p:extLst>
      <p:ext uri="{BB962C8B-B14F-4D97-AF65-F5344CB8AC3E}">
        <p14:creationId xmlns:p14="http://schemas.microsoft.com/office/powerpoint/2010/main" val="3171758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File Types</a:t>
            </a:r>
            <a:endParaRPr lang="en-IE" dirty="0"/>
          </a:p>
        </p:txBody>
      </p:sp>
      <p:pic>
        <p:nvPicPr>
          <p:cNvPr id="3" name="Picture 2"/>
          <p:cNvPicPr>
            <a:picLocks noChangeAspect="1"/>
          </p:cNvPicPr>
          <p:nvPr/>
        </p:nvPicPr>
        <p:blipFill>
          <a:blip r:embed="rId2"/>
          <a:stretch>
            <a:fillRect/>
          </a:stretch>
        </p:blipFill>
        <p:spPr>
          <a:xfrm>
            <a:off x="1191630" y="2439070"/>
            <a:ext cx="5672763" cy="2429143"/>
          </a:xfrm>
          <a:prstGeom prst="rect">
            <a:avLst/>
          </a:prstGeom>
        </p:spPr>
      </p:pic>
      <p:pic>
        <p:nvPicPr>
          <p:cNvPr id="4" name="Picture 3"/>
          <p:cNvPicPr>
            <a:picLocks noChangeAspect="1"/>
          </p:cNvPicPr>
          <p:nvPr/>
        </p:nvPicPr>
        <p:blipFill>
          <a:blip r:embed="rId3"/>
          <a:stretch>
            <a:fillRect/>
          </a:stretch>
        </p:blipFill>
        <p:spPr>
          <a:xfrm>
            <a:off x="1081101" y="5400137"/>
            <a:ext cx="10647059" cy="1040508"/>
          </a:xfrm>
          <a:prstGeom prst="rect">
            <a:avLst/>
          </a:prstGeom>
        </p:spPr>
      </p:pic>
      <p:cxnSp>
        <p:nvCxnSpPr>
          <p:cNvPr id="6" name="Straight Arrow Connector 5"/>
          <p:cNvCxnSpPr/>
          <p:nvPr/>
        </p:nvCxnSpPr>
        <p:spPr>
          <a:xfrm flipV="1">
            <a:off x="1493949" y="4868213"/>
            <a:ext cx="1906074" cy="914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1434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Character and Block Devices</a:t>
            </a:r>
            <a:endParaRPr lang="en-IE" dirty="0"/>
          </a:p>
        </p:txBody>
      </p:sp>
      <p:sp>
        <p:nvSpPr>
          <p:cNvPr id="3" name="Content Placeholder 2"/>
          <p:cNvSpPr>
            <a:spLocks noGrp="1"/>
          </p:cNvSpPr>
          <p:nvPr>
            <p:ph idx="1"/>
          </p:nvPr>
        </p:nvSpPr>
        <p:spPr/>
        <p:txBody>
          <a:bodyPr>
            <a:normAutofit fontScale="70000" lnSpcReduction="20000"/>
          </a:bodyPr>
          <a:lstStyle/>
          <a:p>
            <a:r>
              <a:rPr lang="en-IE" dirty="0"/>
              <a:t>Device files allow programs to communicate with the system’s hardware and peripherals. When the kernel is configured, modules that know how to communicate with each of the system’s devices are linked in. The module for a particular device, called a device driver, takes care of the messy details of managing the device.</a:t>
            </a:r>
          </a:p>
          <a:p>
            <a:r>
              <a:rPr lang="en-IE" dirty="0"/>
              <a:t>Device drivers present a standard communication interface that looks like a regular file. When the kernel is given a request that refers to a character or block device file, it simply passes the request to the appropriate device driver. It’s important to distinguish device files from device drivers, however. The files are just rendezvous points that are used to communicate with the drivers. They are not the drivers themselves.</a:t>
            </a:r>
          </a:p>
          <a:p>
            <a:r>
              <a:rPr lang="en-IE" dirty="0"/>
              <a:t>Character device files allow their associated drivers to do their own input and output buffering. Block device files are used by drivers that handle I/O in large chunks and want the kernel to perform buffering for them. In the past, a few types of hardware were represented by both block and character device files, but that configuration is rare today</a:t>
            </a:r>
            <a:r>
              <a:rPr lang="en-IE" dirty="0" smtClean="0"/>
              <a:t>.</a:t>
            </a:r>
          </a:p>
          <a:p>
            <a:r>
              <a:rPr lang="en-IE" dirty="0"/>
              <a:t>Device files are characterized by two numbers, called the major and minor device numbers. The major device number tells the kernel which driver the file refers to, and the minor device number typically tells the driver which physical unit to address. For example, major device number 6 on a Linux system indicates the parallel port driver. The first parallel port (/</a:t>
            </a:r>
            <a:r>
              <a:rPr lang="en-IE" dirty="0" err="1"/>
              <a:t>dev</a:t>
            </a:r>
            <a:r>
              <a:rPr lang="en-IE" dirty="0"/>
              <a:t>/lp0) would have major device number 6 and minor device number 0.</a:t>
            </a:r>
          </a:p>
          <a:p>
            <a:endParaRPr lang="en-IE" dirty="0"/>
          </a:p>
          <a:p>
            <a:endParaRPr lang="en-IE" dirty="0"/>
          </a:p>
        </p:txBody>
      </p:sp>
    </p:spTree>
    <p:extLst>
      <p:ext uri="{BB962C8B-B14F-4D97-AF65-F5344CB8AC3E}">
        <p14:creationId xmlns:p14="http://schemas.microsoft.com/office/powerpoint/2010/main" val="6097707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Local Domain sockets</a:t>
            </a:r>
            <a:endParaRPr lang="en-IE" dirty="0"/>
          </a:p>
        </p:txBody>
      </p:sp>
      <p:sp>
        <p:nvSpPr>
          <p:cNvPr id="3" name="Content Placeholder 2"/>
          <p:cNvSpPr>
            <a:spLocks noGrp="1"/>
          </p:cNvSpPr>
          <p:nvPr>
            <p:ph idx="1"/>
          </p:nvPr>
        </p:nvSpPr>
        <p:spPr/>
        <p:txBody>
          <a:bodyPr>
            <a:normAutofit lnSpcReduction="10000"/>
          </a:bodyPr>
          <a:lstStyle/>
          <a:p>
            <a:r>
              <a:rPr lang="en-IE" dirty="0"/>
              <a:t>Sockets are connections between processes that allow them to communicate hygienically. Linux provides several different kinds of sockets, most of which involve the use of a network. Local domain sockets are accessible only from the local host and are referred to through a </a:t>
            </a:r>
            <a:r>
              <a:rPr lang="en-IE" dirty="0" err="1"/>
              <a:t>filesystem</a:t>
            </a:r>
            <a:r>
              <a:rPr lang="en-IE" dirty="0"/>
              <a:t> object rather than a network port. They are sometimes known as “UNIX domain sockets.”</a:t>
            </a:r>
          </a:p>
          <a:p>
            <a:r>
              <a:rPr lang="en-IE" dirty="0"/>
              <a:t>Although socket files are visible to other processes as directory entries, they cannot be read from or written to by processes not involved in the connection. Some standard facilities that use local domain sockets are the printing system, the X Window System, and syslog.</a:t>
            </a:r>
          </a:p>
          <a:p>
            <a:endParaRPr lang="en-IE" dirty="0"/>
          </a:p>
        </p:txBody>
      </p:sp>
    </p:spTree>
    <p:extLst>
      <p:ext uri="{BB962C8B-B14F-4D97-AF65-F5344CB8AC3E}">
        <p14:creationId xmlns:p14="http://schemas.microsoft.com/office/powerpoint/2010/main" val="2426460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Named Pipes</a:t>
            </a:r>
            <a:endParaRPr lang="en-IE" dirty="0"/>
          </a:p>
        </p:txBody>
      </p:sp>
      <p:sp>
        <p:nvSpPr>
          <p:cNvPr id="3" name="Content Placeholder 2"/>
          <p:cNvSpPr>
            <a:spLocks noGrp="1"/>
          </p:cNvSpPr>
          <p:nvPr>
            <p:ph idx="1"/>
          </p:nvPr>
        </p:nvSpPr>
        <p:spPr/>
        <p:txBody>
          <a:bodyPr/>
          <a:lstStyle/>
          <a:p>
            <a:r>
              <a:rPr lang="en-IE" dirty="0"/>
              <a:t>Like local domain sockets, named pipes allow communication between two processes running on the same host. They’re also known as “FIFO files” (FIFO is short for the phrase “first in, first out”). You can create named pipes with </a:t>
            </a:r>
            <a:r>
              <a:rPr lang="en-IE" dirty="0" err="1"/>
              <a:t>mknod</a:t>
            </a:r>
            <a:r>
              <a:rPr lang="en-IE" dirty="0"/>
              <a:t> and remove them with rm</a:t>
            </a:r>
            <a:r>
              <a:rPr lang="en-IE" dirty="0" smtClean="0"/>
              <a:t>.</a:t>
            </a:r>
            <a:endParaRPr lang="en-IE" dirty="0"/>
          </a:p>
        </p:txBody>
      </p:sp>
    </p:spTree>
    <p:extLst>
      <p:ext uri="{BB962C8B-B14F-4D97-AF65-F5344CB8AC3E}">
        <p14:creationId xmlns:p14="http://schemas.microsoft.com/office/powerpoint/2010/main" val="2172487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Log Files</a:t>
            </a:r>
            <a:endParaRPr lang="en-IE" dirty="0"/>
          </a:p>
        </p:txBody>
      </p:sp>
      <p:pic>
        <p:nvPicPr>
          <p:cNvPr id="3" name="Picture 2"/>
          <p:cNvPicPr>
            <a:picLocks noChangeAspect="1"/>
          </p:cNvPicPr>
          <p:nvPr/>
        </p:nvPicPr>
        <p:blipFill>
          <a:blip r:embed="rId2"/>
          <a:stretch>
            <a:fillRect/>
          </a:stretch>
        </p:blipFill>
        <p:spPr>
          <a:xfrm>
            <a:off x="1495425" y="1429421"/>
            <a:ext cx="4600575" cy="5248275"/>
          </a:xfrm>
          <a:prstGeom prst="rect">
            <a:avLst/>
          </a:prstGeom>
        </p:spPr>
      </p:pic>
      <p:sp>
        <p:nvSpPr>
          <p:cNvPr id="4" name="TextBox 3"/>
          <p:cNvSpPr txBox="1"/>
          <p:nvPr/>
        </p:nvSpPr>
        <p:spPr>
          <a:xfrm>
            <a:off x="6954592" y="3219718"/>
            <a:ext cx="2550698" cy="369332"/>
          </a:xfrm>
          <a:prstGeom prst="rect">
            <a:avLst/>
          </a:prstGeom>
          <a:noFill/>
        </p:spPr>
        <p:txBody>
          <a:bodyPr wrap="none" rtlCol="0">
            <a:spAutoFit/>
          </a:bodyPr>
          <a:lstStyle/>
          <a:p>
            <a:r>
              <a:rPr lang="en-IE" dirty="0" smtClean="0"/>
              <a:t>Usually stored in /</a:t>
            </a:r>
            <a:r>
              <a:rPr lang="en-IE" dirty="0" err="1" smtClean="0"/>
              <a:t>var</a:t>
            </a:r>
            <a:r>
              <a:rPr lang="en-IE" dirty="0" smtClean="0"/>
              <a:t>/log</a:t>
            </a:r>
            <a:endParaRPr lang="en-IE" dirty="0"/>
          </a:p>
        </p:txBody>
      </p:sp>
    </p:spTree>
    <p:extLst>
      <p:ext uri="{BB962C8B-B14F-4D97-AF65-F5344CB8AC3E}">
        <p14:creationId xmlns:p14="http://schemas.microsoft.com/office/powerpoint/2010/main" val="29611398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1786</Words>
  <Application>Microsoft Office PowerPoint</Application>
  <PresentationFormat>Widescreen</PresentationFormat>
  <Paragraphs>81</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Caecilia-Light</vt:lpstr>
      <vt:lpstr>Caecilia-LightItalic</vt:lpstr>
      <vt:lpstr>Calibri</vt:lpstr>
      <vt:lpstr>Calibri Light</vt:lpstr>
      <vt:lpstr>CourierNew</vt:lpstr>
      <vt:lpstr>MinionMM-380-540-8-</vt:lpstr>
      <vt:lpstr>Office Theme</vt:lpstr>
      <vt:lpstr>Linux Processes</vt:lpstr>
      <vt:lpstr>Linux start up sequence</vt:lpstr>
      <vt:lpstr>Kernel initialisation</vt:lpstr>
      <vt:lpstr>Hardware configuration</vt:lpstr>
      <vt:lpstr>Kernel Threads</vt:lpstr>
      <vt:lpstr>Operator Intervention – manual boot</vt:lpstr>
      <vt:lpstr>Execution of start up scripts</vt:lpstr>
      <vt:lpstr>Start up tasks</vt:lpstr>
      <vt:lpstr>Multi-user operation</vt:lpstr>
      <vt:lpstr>Run Levels</vt:lpstr>
      <vt:lpstr>Starting and Stopping services</vt:lpstr>
      <vt:lpstr>Super user</vt:lpstr>
      <vt:lpstr>Processes – Signals, Interrupts, states</vt:lpstr>
      <vt:lpstr>Processes</vt:lpstr>
      <vt:lpstr>/proc filesystem</vt:lpstr>
      <vt:lpstr>Cron - scheduler</vt:lpstr>
      <vt:lpstr>File Types</vt:lpstr>
      <vt:lpstr>Character and Block Devices</vt:lpstr>
      <vt:lpstr>Local Domain sockets</vt:lpstr>
      <vt:lpstr>Named Pipes</vt:lpstr>
      <vt:lpstr>Log Files</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start up sequence</dc:title>
  <dc:creator>Frank</dc:creator>
  <cp:lastModifiedBy>Frank</cp:lastModifiedBy>
  <cp:revision>8</cp:revision>
  <dcterms:created xsi:type="dcterms:W3CDTF">2013-10-25T12:10:50Z</dcterms:created>
  <dcterms:modified xsi:type="dcterms:W3CDTF">2013-10-25T13:15:09Z</dcterms:modified>
</cp:coreProperties>
</file>